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9764ffa64546a0" /><Relationship Type="http://schemas.openxmlformats.org/officeDocument/2006/relationships/extended-properties" Target="/docProps/app.xml" Id="R17e206ce739e41e5" /><Relationship Type="http://schemas.openxmlformats.org/officeDocument/2006/relationships/officeDocument" Target="/ppt/presentation.xml" Id="Rd8787c0c5b934e6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dff0b0bed7349c5"/>
  </p:sldMasterIdLst>
  <p:notesMasterIdLst>
    <p:notesMasterId xmlns:r="http://schemas.openxmlformats.org/officeDocument/2006/relationships" r:id="R85b8e4136fe447ca"/>
  </p:notesMasterIdLst>
  <p:sldIdLst>
    <p:sldId xmlns:r="http://schemas.openxmlformats.org/officeDocument/2006/relationships" id="256" r:id="Rb2cb6e8ed5bf467a"/>
    <p:sldId xmlns:r="http://schemas.openxmlformats.org/officeDocument/2006/relationships" id="257" r:id="R2c2ef363c1d443da"/>
    <p:sldId xmlns:r="http://schemas.openxmlformats.org/officeDocument/2006/relationships" id="258" r:id="R0abfb68d30394db9"/>
    <p:sldId xmlns:r="http://schemas.openxmlformats.org/officeDocument/2006/relationships" id="259" r:id="R90a211fb395e456b"/>
    <p:sldId xmlns:r="http://schemas.openxmlformats.org/officeDocument/2006/relationships" id="260" r:id="R6315459f528d455b"/>
    <p:sldId xmlns:r="http://schemas.openxmlformats.org/officeDocument/2006/relationships" id="261" r:id="R2eca4bea04d34bc3"/>
    <p:sldId xmlns:r="http://schemas.openxmlformats.org/officeDocument/2006/relationships" id="262" r:id="R318cceaaae9a4f46"/>
    <p:sldId xmlns:r="http://schemas.openxmlformats.org/officeDocument/2006/relationships" id="263" r:id="Rd784b8dcdea9485a"/>
    <p:sldId xmlns:r="http://schemas.openxmlformats.org/officeDocument/2006/relationships" id="264" r:id="Rb2d87da8e8114732"/>
    <p:sldId xmlns:r="http://schemas.openxmlformats.org/officeDocument/2006/relationships" id="265" r:id="R7db76c9a68954825"/>
    <p:sldId xmlns:r="http://schemas.openxmlformats.org/officeDocument/2006/relationships" id="266" r:id="Ra8fd703ce2dd489e"/>
  </p:sldIdLst>
  <p:sldSz cx="9144000" cy="5143500"/>
  <p:notesSz cx="6858000" cy="9144000"/>
  <p:embeddedFontLst>
    <p:embeddedFont>
      <p:font typeface="Manrope SemiBold"/>
      <p:regular xmlns:r="http://schemas.openxmlformats.org/officeDocument/2006/relationships" r:id="Re957109a0acd440e"/>
      <p:bold xmlns:r="http://schemas.openxmlformats.org/officeDocument/2006/relationships" r:id="R974459acb7e84476"/>
    </p:embeddedFont>
    <p:embeddedFont>
      <p:font typeface="Manrope ExtraBold"/>
      <p:bold xmlns:r="http://schemas.openxmlformats.org/officeDocument/2006/relationships" r:id="Rc2c6586126cc47de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dfe215a2a845b5" /><Relationship Type="http://schemas.openxmlformats.org/officeDocument/2006/relationships/slideMaster" Target="/ppt/slideMasters/slideMaster1.xml" Id="Rbdff0b0bed7349c5" /><Relationship Type="http://schemas.openxmlformats.org/officeDocument/2006/relationships/notesMaster" Target="/ppt/notesMasters/notesMaster1.xml" Id="R85b8e4136fe447ca" /><Relationship Type="http://schemas.openxmlformats.org/officeDocument/2006/relationships/presProps" Target="/ppt/presProps.xml" Id="Ra7941a7f81024110" /><Relationship Type="http://schemas.openxmlformats.org/officeDocument/2006/relationships/tableStyles" Target="/ppt/tableStyles.xml" Id="Re52e5e9ff24a408f" /><Relationship Type="http://schemas.openxmlformats.org/officeDocument/2006/relationships/font" Target="/ppt/fonts/font.dat" Id="Re957109a0acd440e" /><Relationship Type="http://schemas.openxmlformats.org/officeDocument/2006/relationships/font" Target="/ppt/fonts/font2.dat" Id="R974459acb7e84476" /><Relationship Type="http://schemas.openxmlformats.org/officeDocument/2006/relationships/font" Target="/ppt/fonts/font3.dat" Id="Rc2c6586126cc47de" /><Relationship Type="http://schemas.openxmlformats.org/officeDocument/2006/relationships/slide" Target="/ppt/slides/slide1.xml" Id="Rb2cb6e8ed5bf467a" /><Relationship Type="http://schemas.openxmlformats.org/officeDocument/2006/relationships/slide" Target="/ppt/slides/slide2.xml" Id="R2c2ef363c1d443da" /><Relationship Type="http://schemas.openxmlformats.org/officeDocument/2006/relationships/slide" Target="/ppt/slides/slide3.xml" Id="R0abfb68d30394db9" /><Relationship Type="http://schemas.openxmlformats.org/officeDocument/2006/relationships/slide" Target="/ppt/slides/slide4.xml" Id="R90a211fb395e456b" /><Relationship Type="http://schemas.openxmlformats.org/officeDocument/2006/relationships/slide" Target="/ppt/slides/slide5.xml" Id="R6315459f528d455b" /><Relationship Type="http://schemas.openxmlformats.org/officeDocument/2006/relationships/slide" Target="/ppt/slides/slide6.xml" Id="R2eca4bea04d34bc3" /><Relationship Type="http://schemas.openxmlformats.org/officeDocument/2006/relationships/slide" Target="/ppt/slides/slide7.xml" Id="R318cceaaae9a4f46" /><Relationship Type="http://schemas.openxmlformats.org/officeDocument/2006/relationships/slide" Target="/ppt/slides/slide8.xml" Id="Rd784b8dcdea9485a" /><Relationship Type="http://schemas.openxmlformats.org/officeDocument/2006/relationships/slide" Target="/ppt/slides/slide9.xml" Id="Rb2d87da8e8114732" /><Relationship Type="http://schemas.openxmlformats.org/officeDocument/2006/relationships/slide" Target="/ppt/slides/slide10.xml" Id="R7db76c9a68954825" /><Relationship Type="http://schemas.openxmlformats.org/officeDocument/2006/relationships/slide" Target="/ppt/slides/slide11.xml" Id="Ra8fd703ce2dd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3c52ce6ab4a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f8e7228484592" /><Relationship Type="http://schemas.openxmlformats.org/officeDocument/2006/relationships/notesMaster" Target="/ppt/notesMasters/notesMaster1.xml" Id="Rd21c1f5b3847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f26c057ee4a24" /><Relationship Type="http://schemas.openxmlformats.org/officeDocument/2006/relationships/notesMaster" Target="/ppt/notesMasters/notesMaster1.xml" Id="Rbc676509b3cd49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d9bcf66f4448fb" /><Relationship Type="http://schemas.openxmlformats.org/officeDocument/2006/relationships/notesMaster" Target="/ppt/notesMasters/notesMaster1.xml" Id="Rbcb7a1925aac4e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e83812c7944a5" /><Relationship Type="http://schemas.openxmlformats.org/officeDocument/2006/relationships/notesMaster" Target="/ppt/notesMasters/notesMaster1.xml" Id="R801957265750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e78ac2803c4acd" /><Relationship Type="http://schemas.openxmlformats.org/officeDocument/2006/relationships/notesMaster" Target="/ppt/notesMasters/notesMaster1.xml" Id="R789a50a7cce144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4f94c035724d7c" /><Relationship Type="http://schemas.openxmlformats.org/officeDocument/2006/relationships/notesMaster" Target="/ppt/notesMasters/notesMaster1.xml" Id="R537979098c17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7d8911b6b34c46" /><Relationship Type="http://schemas.openxmlformats.org/officeDocument/2006/relationships/notesMaster" Target="/ppt/notesMasters/notesMaster1.xml" Id="R95cee04d7cbd4d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6c60c502a84584" /><Relationship Type="http://schemas.openxmlformats.org/officeDocument/2006/relationships/notesMaster" Target="/ppt/notesMasters/notesMaster1.xml" Id="R5079356d8c8d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ddae267bf2487b" /><Relationship Type="http://schemas.openxmlformats.org/officeDocument/2006/relationships/notesMaster" Target="/ppt/notesMasters/notesMaster1.xml" Id="R876558bf2e4646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79d148028e467a" /><Relationship Type="http://schemas.openxmlformats.org/officeDocument/2006/relationships/notesMaster" Target="/ppt/notesMasters/notesMaster1.xml" Id="R77b20c48e4394b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8037b2eebc4be1" /><Relationship Type="http://schemas.openxmlformats.org/officeDocument/2006/relationships/notesMaster" Target="/ppt/notesMasters/notesMaster1.xml" Id="Rad9249c9222347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ada04ff8147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d13aa44e241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1f39b1d9249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7fa6a0d1c4c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5afa076504a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56a9ede2f4c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f8630a09847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e05054acf4a8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bf8644d594b1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afd6092aa48c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5f5d9256c422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EEAA3914-5F13-4B64-B6A8-6993F4A73F8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67B245E-56D4-4D21-B0A5-4229250D68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331DB9A-4CE2-4EE9-8354-11D6F54C8C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6CE69126-6D28-46C7-B38C-CD1B434DF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ACCDE6D9-0394-4D15-9B1F-7EBD8A945E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989158D-C6EB-4F28-9F88-7477F55BF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E436009-7958-4595-BD4E-2B1B8DC59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1CDDA50A-9961-4DB1-AE64-8D38E61902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A5EB32D-4FBB-4589-BC63-A4A951561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64DB53E-C269-495E-AC00-A65E000388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E061BEF2-8033-49C3-9130-E05AE23AAF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F5998717-04F3-4C81-A8C8-247D53E0BE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CBF222A3-9B67-4B6C-BD3D-43E59320E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8DD77FD-067D-4B4E-80B1-B14EF9CB7A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87FAE571-B919-4B9D-BC4B-AFEC85C3A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C0AF59FD-BB46-4B6E-AD80-86519A2D11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4DB06C94-80DD-419E-8D98-8BD3DE3066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02A4A85B-535F-4B13-B19D-2BB08C138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D59E6BFB-19B0-40B4-BA3D-492635A48A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3FF84E15-2395-430F-B625-C4B573C3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2C0B695C-883C-4B7B-B28B-81646A06F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79A71D7-4126-4CD9-805A-60B968ABEB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367B2391-5BC6-4B65-8F37-81FCEE5079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00D00B25-3981-46ED-9F22-3AB8762293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E1971B4F-3C4F-4914-80F9-3BFEB4EBE7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D9A70553-E2D1-483D-A0BC-260200BD24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9B3B83C-114A-43CB-82BF-B0658E552B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C1EA9F0-FFF1-4D33-A610-5DF42B71F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FEB4BF0B-9A31-4D8E-A465-B3344DE1F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2C9B8292-548B-42BE-B7F3-1114284509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6eafd694243e3" /><Relationship Type="http://schemas.openxmlformats.org/officeDocument/2006/relationships/slideLayout" Target="/ppt/slideLayouts/slideLayout1.xml" Id="Reb288eb16d37418b" /><Relationship Type="http://schemas.openxmlformats.org/officeDocument/2006/relationships/slideLayout" Target="/ppt/slideLayouts/slideLayout2.xml" Id="Rcd6c9aab8ea24129" /><Relationship Type="http://schemas.openxmlformats.org/officeDocument/2006/relationships/slideLayout" Target="/ppt/slideLayouts/slideLayout3.xml" Id="Rf7b6fd34109e413f" /><Relationship Type="http://schemas.openxmlformats.org/officeDocument/2006/relationships/slideLayout" Target="/ppt/slideLayouts/slideLayout4.xml" Id="Rb7351c82907f4dad" /><Relationship Type="http://schemas.openxmlformats.org/officeDocument/2006/relationships/slideLayout" Target="/ppt/slideLayouts/slideLayout5.xml" Id="Rbb3df695a66f4a5d" /><Relationship Type="http://schemas.openxmlformats.org/officeDocument/2006/relationships/slideLayout" Target="/ppt/slideLayouts/slideLayout6.xml" Id="Ra051e4f233224609" /><Relationship Type="http://schemas.openxmlformats.org/officeDocument/2006/relationships/slideLayout" Target="/ppt/slideLayouts/slideLayout7.xml" Id="R5ac1a0e0010d4bf4" /><Relationship Type="http://schemas.openxmlformats.org/officeDocument/2006/relationships/slideLayout" Target="/ppt/slideLayouts/slideLayout8.xml" Id="R3ee8a5be86424e19" /><Relationship Type="http://schemas.openxmlformats.org/officeDocument/2006/relationships/slideLayout" Target="/ppt/slideLayouts/slideLayout9.xml" Id="Raea04f9659d247be" /><Relationship Type="http://schemas.openxmlformats.org/officeDocument/2006/relationships/slideLayout" Target="/ppt/slideLayouts/slideLayout10.xml" Id="Rd8730c150756446c" /><Relationship Type="http://schemas.openxmlformats.org/officeDocument/2006/relationships/slideLayout" Target="/ppt/slideLayouts/slideLayout11.xml" Id="Re1fdb416f6c2434b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D570052-DE06-4BC7-946E-9FCF192DA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BE73BFC-ED8D-4D89-90A2-1A1878CBB2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ACE0FC1-C99F-4047-A025-2C95683EA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288eb16d37418b"/>
    <p:sldLayoutId xmlns:r="http://schemas.openxmlformats.org/officeDocument/2006/relationships" id="2147483650" r:id="Rcd6c9aab8ea24129"/>
    <p:sldLayoutId xmlns:r="http://schemas.openxmlformats.org/officeDocument/2006/relationships" id="2147483651" r:id="Rf7b6fd34109e413f"/>
    <p:sldLayoutId xmlns:r="http://schemas.openxmlformats.org/officeDocument/2006/relationships" id="2147483652" r:id="Rb7351c82907f4dad"/>
    <p:sldLayoutId xmlns:r="http://schemas.openxmlformats.org/officeDocument/2006/relationships" id="2147483653" r:id="Rbb3df695a66f4a5d"/>
    <p:sldLayoutId xmlns:r="http://schemas.openxmlformats.org/officeDocument/2006/relationships" id="2147483654" r:id="Ra051e4f233224609"/>
    <p:sldLayoutId xmlns:r="http://schemas.openxmlformats.org/officeDocument/2006/relationships" id="2147483655" r:id="R5ac1a0e0010d4bf4"/>
    <p:sldLayoutId xmlns:r="http://schemas.openxmlformats.org/officeDocument/2006/relationships" id="2147483656" r:id="R3ee8a5be86424e19"/>
    <p:sldLayoutId xmlns:r="http://schemas.openxmlformats.org/officeDocument/2006/relationships" id="2147483657" r:id="Raea04f9659d247be"/>
    <p:sldLayoutId xmlns:r="http://schemas.openxmlformats.org/officeDocument/2006/relationships" id="2147483658" r:id="Rd8730c150756446c"/>
    <p:sldLayoutId xmlns:r="http://schemas.openxmlformats.org/officeDocument/2006/relationships" id="2147483659" r:id="Re1fdb416f6c2434b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3ae0bf4324d4227" /><Relationship Type="http://schemas.openxmlformats.org/officeDocument/2006/relationships/image" Target="/ppt/media/image.png" Id="Ree05069a550f4a60" /><Relationship Type="http://schemas.openxmlformats.org/officeDocument/2006/relationships/notesSlide" Target="/ppt/notesSlides/notesSlide1.xml" Id="R127e5c1afb8c45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2ce2d001936483d" /><Relationship Type="http://schemas.openxmlformats.org/officeDocument/2006/relationships/image" Target="/ppt/media/image2.png" Id="Rc2dc3b00ebf94e77" /><Relationship Type="http://schemas.openxmlformats.org/officeDocument/2006/relationships/notesSlide" Target="/ppt/notesSlides/notesSlide2.xml" Id="R8508d29a903e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b44076e3e634976" /><Relationship Type="http://schemas.openxmlformats.org/officeDocument/2006/relationships/image" Target="/ppt/media/image2.png" Id="R4fa4a7517b0c4769" /><Relationship Type="http://schemas.openxmlformats.org/officeDocument/2006/relationships/notesSlide" Target="/ppt/notesSlides/notesSlide3.xml" Id="R2acb29d65b67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d732bfda90c413a" /><Relationship Type="http://schemas.openxmlformats.org/officeDocument/2006/relationships/image" Target="/ppt/media/image2.png" Id="Rd2b263bcb0e74b37" /><Relationship Type="http://schemas.openxmlformats.org/officeDocument/2006/relationships/notesSlide" Target="/ppt/notesSlides/notesSlide4.xml" Id="R54edb74f0fb4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a8168d2c7164600" /><Relationship Type="http://schemas.openxmlformats.org/officeDocument/2006/relationships/image" Target="/ppt/media/image2.png" Id="R0ae6825211bb4155" /><Relationship Type="http://schemas.openxmlformats.org/officeDocument/2006/relationships/notesSlide" Target="/ppt/notesSlides/notesSlide5.xml" Id="R6f01ae681001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cd56c594ed2489b" /><Relationship Type="http://schemas.openxmlformats.org/officeDocument/2006/relationships/image" Target="/ppt/media/image2.png" Id="Rffc72d62d17c4545" /><Relationship Type="http://schemas.openxmlformats.org/officeDocument/2006/relationships/notesSlide" Target="/ppt/notesSlides/notesSlide6.xml" Id="Ra12e00e2d0f8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9dadf9d96e40be" /><Relationship Type="http://schemas.openxmlformats.org/officeDocument/2006/relationships/image" Target="/ppt/media/image2.png" Id="Rdaa14b77f6e74099" /><Relationship Type="http://schemas.openxmlformats.org/officeDocument/2006/relationships/notesSlide" Target="/ppt/notesSlides/notesSlide7.xml" Id="R085b42ecf2534d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caf61fea9a54838" /><Relationship Type="http://schemas.openxmlformats.org/officeDocument/2006/relationships/image" Target="/ppt/media/image2.png" Id="R55c560f90e0d4d48" /><Relationship Type="http://schemas.openxmlformats.org/officeDocument/2006/relationships/notesSlide" Target="/ppt/notesSlides/notesSlide8.xml" Id="Rcf46de7be49e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3d5abe84b864bd1" /><Relationship Type="http://schemas.openxmlformats.org/officeDocument/2006/relationships/image" Target="/ppt/media/image2.png" Id="Rfe3f02376d8e4cb5" /><Relationship Type="http://schemas.openxmlformats.org/officeDocument/2006/relationships/notesSlide" Target="/ppt/notesSlides/notesSlide9.xml" Id="R00e263f9abf34c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359db55f17f4089" /><Relationship Type="http://schemas.openxmlformats.org/officeDocument/2006/relationships/image" Target="/ppt/media/image2.png" Id="R9dd1f362911b4d36" /><Relationship Type="http://schemas.openxmlformats.org/officeDocument/2006/relationships/notesSlide" Target="/ppt/notesSlides/notesSlide10.xml" Id="R5c6dc5cca22342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13e93161b414cf5" /><Relationship Type="http://schemas.openxmlformats.org/officeDocument/2006/relationships/image" Target="/ppt/media/image3.png" Id="R97951d09e5724cbe" /><Relationship Type="http://schemas.openxmlformats.org/officeDocument/2006/relationships/notesSlide" Target="/ppt/notesSlides/notesSlide11.xml" Id="Rdda2faba374f4c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Google Shape;5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5069a550f4a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1F85E4F0-4C8B-4F8E-A5AE-9F40592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3065023"/>
            <a:ext cx="8520600" cy="4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Name : EvidenceRank AI</a:t>
            </a:r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AD34EE0F-AE92-48D2-B9D5-3D9EB40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5" y="3916185"/>
            <a:ext cx="85206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7557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Problem Statement : Rank the top 100 Senior AI Engineer candidates from 100,000 adversarial profiles—offline, explainably, and within strict CPU limits.</a:t>
            </a:r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76E377D2-4E37-403E-9B34-3D2E54A0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88" y="3472483"/>
            <a:ext cx="8520600" cy="4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Leader Name : Ravi Shankar Pal</a:t>
            </a:r>
          </a:p>
        </p:txBody>
      </p:sp>
    </p:spTree>
    <p:extLst>
      <p:ext uri="{BB962C8B-B14F-4D97-AF65-F5344CB8AC3E}">
        <p14:creationId xmlns:p14="http://schemas.microsoft.com/office/powerpoint/2010/main" val="10528747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6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dc3b00ebf94e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7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E0B76C98-6DAF-44BB-81C1-C86968A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24030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Solution Overview</a:t>
            </a:r>
          </a:p>
        </p:txBody>
      </p:sp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6CA53009-B926-4D2D-8115-D9128A49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512"/>
            <a:ext cx="8520600" cy="325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Evidence-first cascading IR pipeline: stream → validate → filter → extract → rank → explain.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Career history is the source of truth; summaries and skills are lower-trust supporting claims.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Capabilities—not isolated tools—cover retrieval, vectors, ranking/evaluation, production ML, backend and product systems.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Fraud and timeline checks reduce trust before relevance is calculated.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Local TF-IDF reranks only the strongest 4,000 candidates; exactly 100 validator-safe rows are produced.</a:t>
            </a:r>
          </a:p>
        </p:txBody>
      </p:sp>
    </p:spTree>
    <p:extLst>
      <p:ext uri="{BB962C8B-B14F-4D97-AF65-F5344CB8AC3E}">
        <p14:creationId xmlns:p14="http://schemas.microsoft.com/office/powerpoint/2010/main" val="8214652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3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a4a7517b0c47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2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CFD931EE-86C6-4D84-B3F5-A0F1DB4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JD Understanding &amp; Candidate Evaluatio</a:t>
            </a: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n</a:t>
            </a:r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57A6919D-A9AB-4732-98B6-06FC52EB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Target: Senior AI Engineer with an ideal 5–9 years of relevant experience.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Critical capabilities: retrieval, vector/ANN infrastructure, ranking, evaluation and production ML ownership.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Supporting capabilities: Python/backend systems, deployment, monitoring, data pipelines and product feedback loops.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Strongest evidence: career descriptions showing shipped systems, scale, latency, experiments and ownership.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Behavioral readiness—response, activity, notice and location—modifies confidence but never replaces technical fit.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Complete capability coverage outranks repeated keywords or one fashionable technology.</a:t>
            </a:r>
          </a:p>
        </p:txBody>
      </p:sp>
    </p:spTree>
    <p:extLst>
      <p:ext uri="{BB962C8B-B14F-4D97-AF65-F5344CB8AC3E}">
        <p14:creationId xmlns:p14="http://schemas.microsoft.com/office/powerpoint/2010/main" val="1597890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Google Shape;7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b263bcb0e74b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2C7C334E-B565-4D2B-9D8C-7EAAF6E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Ranking Methodology</a:t>
            </a:r>
          </a:p>
        </p:txBody>
      </p:sp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E7C24BE4-C32E-44B1-87E9-53231260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1. Stream profiles and reject malformed, clearly underqualified or non-engineering records.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2. Weight evidence by source: career 1.00; summary 0.45; assessment 0.35; headline 0.30; skills 0.25.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3. Compute integrity penalties for unsupported expertise, impossible timelines and research/consulting-only paths.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4. Score capability match 28%, retrieval 20%, ranking/evaluation 16%, production 15%, experience 8%, behavior 8%, integrity 5%.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5. Keep 20,000 candidates; apply only 8% local semantic influence to the strongest 4,000.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6. Final comparator prioritizes score → integrity → capability → production → retrieval → evaluation → behavior.</a:t>
            </a:r>
          </a:p>
        </p:txBody>
      </p:sp>
    </p:spTree>
    <p:extLst>
      <p:ext uri="{BB962C8B-B14F-4D97-AF65-F5344CB8AC3E}">
        <p14:creationId xmlns:p14="http://schemas.microsoft.com/office/powerpoint/2010/main" val="7338533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Google Shape;8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e6825211bb41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BC413D98-7246-4887-ABC5-A9BCDC0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Explainability &amp; Data Validation</a:t>
            </a:r>
          </a:p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14A6FD5D-BB27-4C59-90CF-2E3CF2B0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Every reason is generated from the same evidence objects used for scoring.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The explanation quotes up to two strong career-backed capability snippets and states production/evaluation strengths.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No hosted LLM or external API is used; missing evidence is reported as a gap rather than invented.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Fraud flags cover near-zero-duration ‘expert’ skills, unsupported AI lists, date conflicts and pre-release technology claims.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Severe combined fraud penalty (≥0.72) removes a profile; lesser concerns reduce integrity and remain visible.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CSV writing enforces unique ranks, grounded reasoning and strictly non-increasing scores before official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7539937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4" name="Google Shape;9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c72d62d17c45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8">
            <a:extLst xmlns:a="http://schemas.openxmlformats.org/drawingml/2006/main">
              <a:ext uri="{FF2B5EF4-FFF2-40B4-BE49-F238E27FC236}">
                <a16:creationId xmlns:a16="http://schemas.microsoft.com/office/drawing/2014/main" id="{AB111FD5-C13A-428D-8D66-27311CC4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End-to-End Workflow</a:t>
            </a:r>
          </a:p>
        </p:txBody>
      </p:sp>
      <p:sp>
        <p:nvSp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E64BCFE6-EEE4-4971-8DA9-04E9149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1. Read candidates.jsonl.gz as a memory-bounded stream.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2. Validate required profile, career, skills and Redrob signal fields.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3. Apply cheap hard filters and extract multi-source career evidence.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4. Assess fraud/plausibility, behavior and availability independently.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5. Build capability graph: breadth, critical coverage and depth.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6. Compute base score and maintain a bounded 20,000-candidate shortlist.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7. Fit local TF-IDF on the JD + top 4,000 career texts and rerank.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8. Compare dimensions, generate grounded reasons, write top 100 and run the official validator.</a:t>
            </a:r>
          </a:p>
        </p:txBody>
      </p:sp>
    </p:spTree>
    <p:extLst>
      <p:ext uri="{BB962C8B-B14F-4D97-AF65-F5344CB8AC3E}">
        <p14:creationId xmlns:p14="http://schemas.microsoft.com/office/powerpoint/2010/main" val="15913851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4" name="Google Shape;9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a14b77f6e740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8">
            <a:extLst xmlns:a="http://schemas.openxmlformats.org/drawingml/2006/main">
              <a:ext uri="{FF2B5EF4-FFF2-40B4-BE49-F238E27FC236}">
                <a16:creationId xmlns:a16="http://schemas.microsoft.com/office/drawing/2014/main" id="{AB111FD5-C13A-428D-8D66-27311CC4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System Architecture</a:t>
            </a:r>
          </a:p>
        </p:txBody>
      </p:sp>
      <p:sp>
        <p:nvSp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E64BCFE6-EEE4-4971-8DA9-04E9149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Data layer — streaming JSON/JSONL/GZIP loader with lightweight schema validation.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Evidence layer — normalized text, source-weighted extraction and reusable capability taxonomy.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Trust layer — fraud, release-date, timeline, research-only and consulting-only checks.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Fit layer — capability graph, production/experience fit and behavioral assessment.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Retrieval layer — bounded shortlist plus local sparse TF-IDF/cosine reranking.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Decision layer — deterministic multi-dimensional comparator and monotonic score writer.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Output layer — evidence-grounded reasoning, submission CSV, benchmark and official validator integration.</a:t>
            </a:r>
          </a:p>
        </p:txBody>
      </p:sp>
    </p:spTree>
    <p:extLst>
      <p:ext uri="{BB962C8B-B14F-4D97-AF65-F5344CB8AC3E}">
        <p14:creationId xmlns:p14="http://schemas.microsoft.com/office/powerpoint/2010/main" val="15913851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7" name="Google Shape;10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c560f90e0d4d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20">
            <a:extLst xmlns:a="http://schemas.openxmlformats.org/drawingml/2006/main">
              <a:ext uri="{FF2B5EF4-FFF2-40B4-BE49-F238E27FC236}">
                <a16:creationId xmlns:a16="http://schemas.microsoft.com/office/drawing/2014/main" id="{9A2E097B-FC28-4171-ABA5-D6A4DE0F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Results &amp; Performance</a:t>
            </a:r>
          </a:p>
        </p:txBody>
      </p:sp>
      <p:sp>
        <p:nvSpPr>
          <p:cNvPr id="105" name="Google Shape;105;p20">
            <a:extLst xmlns:a="http://schemas.openxmlformats.org/drawingml/2006/main">
              <a:ext uri="{FF2B5EF4-FFF2-40B4-BE49-F238E27FC236}">
                <a16:creationId xmlns:a16="http://schemas.microsoft.com/office/drawing/2014/main" id="{6F0B5A3B-E3F9-4B46-B1BD-5148BC08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100,000 profiles parsed from the full dataset.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68,901 rejected by structural, hard-fit or trust gates; 31,099 survived for ranking.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Working set bounded to 20,000; semantic reranking limited to 4,000 candidates.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Observed end-to-end wall time: 198.93 seconds on a local CPU machine.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Runtime dependencies: Python standard library only—no GPU, network, hosted model or vector database.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Exactly 100 unique candidates written with monotonic scores and profile-grounded reasoning.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Official validate_submission.py result: Submission is valid.</a:t>
            </a:r>
          </a:p>
        </p:txBody>
      </p:sp>
    </p:spTree>
    <p:extLst>
      <p:ext uri="{BB962C8B-B14F-4D97-AF65-F5344CB8AC3E}">
        <p14:creationId xmlns:p14="http://schemas.microsoft.com/office/powerpoint/2010/main" val="15782184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4" name="Google Shape;11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3f02376d8e4c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" name="Google Shape;111;p21">
            <a:extLst xmlns:a="http://schemas.openxmlformats.org/drawingml/2006/main">
              <a:ext uri="{FF2B5EF4-FFF2-40B4-BE49-F238E27FC236}">
                <a16:creationId xmlns:a16="http://schemas.microsoft.com/office/drawing/2014/main" id="{3D656B93-40BB-4011-A4D5-10E5C4A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Technologies Used</a:t>
            </a:r>
          </a:p>
        </p:txBody>
      </p:sp>
      <p:sp>
        <p:nvSpPr>
          <p:cNvPr id="112" name="Google Shape;112;p21">
            <a:extLst xmlns:a="http://schemas.openxmlformats.org/drawingml/2006/main">
              <a:ext uri="{FF2B5EF4-FFF2-40B4-BE49-F238E27FC236}">
                <a16:creationId xmlns:a16="http://schemas.microsoft.com/office/drawing/2014/main" id="{A29E615F-BFD2-4379-9F5C-AC90CF0B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Python 3.11 + standard library — portable, deterministic and zero runtime model dependencies.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JSON, JSONL and gzip streaming — bounded memory for 100,000 profiles.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Dataclasses + modular package design — typed, testable evidence and scoring objects.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Curated capability taxonomy + heuristics — explainable behavior without fake supervised labels.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Sparse TF-IDF with unigram/bigram cosine — lightweight semantic recall after filtering.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CSV + official validator subprocess — submission compliance in the same command.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pytest — focused tests for evidence, fraud, behavior, pipeline ordering and CSV output.</a:t>
            </a:r>
          </a:p>
        </p:txBody>
      </p:sp>
    </p:spTree>
    <p:extLst>
      <p:ext uri="{BB962C8B-B14F-4D97-AF65-F5344CB8AC3E}">
        <p14:creationId xmlns:p14="http://schemas.microsoft.com/office/powerpoint/2010/main" val="8257347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1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d1f362911b4d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7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2">
            <a:extLst xmlns:a="http://schemas.openxmlformats.org/drawingml/2006/main">
              <a:ext uri="{FF2B5EF4-FFF2-40B4-BE49-F238E27FC236}">
                <a16:creationId xmlns:a16="http://schemas.microsoft.com/office/drawing/2014/main" id="{99854BD7-AA11-4781-AADA-FF19DC87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Submission Assets</a:t>
            </a:r>
          </a:p>
        </p:txBody>
      </p:sp>
      <p:sp>
        <p:nvSpPr>
          <p:cNvPr id="119" name="Google Shape;119;p22">
            <a:extLst xmlns:a="http://schemas.openxmlformats.org/drawingml/2006/main">
              <a:ext uri="{FF2B5EF4-FFF2-40B4-BE49-F238E27FC236}">
                <a16:creationId xmlns:a16="http://schemas.microsoft.com/office/drawing/2014/main" id="{0328F7C5-0989-4EDB-BA2A-93933C0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1278500"/>
            <a:ext cx="7968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GitHub repository — add published URL after pushing the codebase.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README.md — complete problem, architecture, formulas, design journey and reproduction guide.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Main command — python rank.py --candidates ./data/candidates.jsonl.gz --out ./outputs/submission.csv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Validation — add --validate-with ./challenge_files/validate_submission.py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Tests — pytest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Benchmark — python scripts/benchmark.py --candidates ./data/candidates.jsonl.gz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Optional ensemble — weighted rank fusion for three independently valid submissions.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Demo video — not yet published; add URL if required before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5413597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2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951d09e5724c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7128449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2026-07-02T10:46:36.8260000Z</dcterms:created>
  <dcterms:modified xsi:type="dcterms:W3CDTF">2026-07-02T10:46:36.8260000Z</dcterms:modified>
</coreProperties>
</file>